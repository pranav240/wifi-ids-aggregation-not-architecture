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1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Relationship Id="rId12" Type="http://schemas.openxmlformats.org/officeDocument/2006/relationships/image" Target="../media/image1.jpg"/><Relationship Id="rId1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6" Type="http://schemas.openxmlformats.org/officeDocument/2006/relationships/image" Target="../media/image1.jpg"/><Relationship Id="rId7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.jpg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1.jpg"/><Relationship Id="rId6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mage1.jp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1.png"/><Relationship Id="rId4" Type="http://schemas.openxmlformats.org/officeDocument/2006/relationships/image" Target="../media/image-2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2/icon_wifi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4008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48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Aggregation, Not Architecture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731520" y="3108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Noise Robustness in Wi-Fi Intrusion Detection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114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T 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Rajasekar Mohan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Engineering, PES University, Bengaluru, India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ICCSIT 2026  |  Paris, France  |  September 25–27, 2026  |  Paper ID: ZX1060</a:t>
            </a:r>
            <a:endParaRPr lang="en-US" sz="1300" dirty="0"/>
          </a:p>
        </p:txBody>
      </p:sp>
      <p:sp>
        <p:nvSpPr>
          <p:cNvPr id="7" name="Rounded Rectangle 6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csit_logo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148132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— the Wi-Fi threat landscape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confound in prior comparisons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47802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4505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pipeline (AWID3)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96265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62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93522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methodology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44728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41985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Session-aware windowing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90448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Noise-evaluation protocol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441655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3891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+ BBOT (Optuna) tuning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490118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901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8737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primary comparison → context-equalized ablation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1520" y="538581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385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535838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shuffle test → aggregation decomposition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" y="58704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870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584301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limitations, and takeaway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Rounded Rectangle 33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ccsit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Wi-Fi Threat Landscape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DADFE8"/>
            </a:solidFill>
            <a:prstDash val="solid"/>
          </a:ln>
        </p:spPr>
      </p:sp>
      <p:pic>
        <p:nvPicPr>
          <p:cNvPr id="4" name="Image 0" descr="/home/claude/pptx2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5544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Deauthentication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389120" y="15544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DADFE8"/>
            </a:solidFill>
            <a:prstDash val="solid"/>
          </a:ln>
        </p:spPr>
      </p:sp>
      <p:pic>
        <p:nvPicPr>
          <p:cNvPr id="7" name="Image 1" descr="/home/claude/pptx2/icon_hac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92024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4960" y="15544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 Twin AP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092440" y="15544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DADFE8"/>
            </a:solidFill>
            <a:prstDash val="solid"/>
          </a:ln>
        </p:spPr>
      </p:sp>
      <p:pic>
        <p:nvPicPr>
          <p:cNvPr id="10" name="Image 2" descr="/home/claude/pptx2/icon_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92024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98280" y="15544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Access Point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85800" y="32004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DADFE8"/>
            </a:solidFill>
            <a:prstDash val="solid"/>
          </a:ln>
        </p:spPr>
      </p:sp>
      <p:pic>
        <p:nvPicPr>
          <p:cNvPr id="13" name="Image 3" descr="/home/claude/pptx2/icon_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66160"/>
            <a:ext cx="640080" cy="6400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91640" y="3200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Traffic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389120" y="32004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DADFE8"/>
            </a:solidFill>
            <a:prstDash val="solid"/>
          </a:ln>
        </p:spPr>
      </p:sp>
      <p:pic>
        <p:nvPicPr>
          <p:cNvPr id="16" name="Image 4" descr="/home/claude/pptx2/icon_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566160"/>
            <a:ext cx="640080" cy="6400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94960" y="3200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8092440" y="32004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DADFE8"/>
            </a:solidFill>
            <a:prstDash val="solid"/>
          </a:ln>
        </p:spPr>
      </p:sp>
      <p:pic>
        <p:nvPicPr>
          <p:cNvPr id="19" name="Image 5" descr="/home/claude/pptx2/icon_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566160"/>
            <a:ext cx="640080" cy="6400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098280" y="3200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Krack / Kr00k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85800" y="48463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DADFE8"/>
            </a:solidFill>
            <a:prstDash val="solid"/>
          </a:ln>
        </p:spPr>
      </p:sp>
      <p:pic>
        <p:nvPicPr>
          <p:cNvPr id="22" name="Image 6" descr="/home/claude/pptx2/icon_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212080"/>
            <a:ext cx="640080" cy="6400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691640" y="4846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4389120" y="48463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DADFE8"/>
            </a:solidFill>
            <a:prstDash val="solid"/>
          </a:ln>
        </p:spPr>
      </p:sp>
      <p:pic>
        <p:nvPicPr>
          <p:cNvPr id="25" name="Image 7" descr="/home/claude/pptx2/icon_ser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5212080"/>
            <a:ext cx="640080" cy="6400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94960" y="4846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SSDP / SSH Abuse</a:t>
            </a:r>
            <a:endParaRPr lang="en-US" sz="1500" dirty="0"/>
          </a:p>
        </p:txBody>
      </p:sp>
      <p:sp>
        <p:nvSpPr>
          <p:cNvPr id="27" name="Shape 17"/>
          <p:cNvSpPr/>
          <p:nvPr/>
        </p:nvSpPr>
        <p:spPr>
          <a:xfrm>
            <a:off x="8092440" y="48463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DADFE8"/>
            </a:solidFill>
            <a:prstDash val="solid"/>
          </a:ln>
        </p:spPr>
      </p:sp>
      <p:pic>
        <p:nvPicPr>
          <p:cNvPr id="28" name="Image 8" descr="/home/claude/pptx2/icon_hack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5212080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9098280" y="4846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Spoofing</a:t>
            </a:r>
            <a:endParaRPr lang="en-US" sz="1500" dirty="0"/>
          </a:p>
        </p:txBody>
      </p:sp>
      <p:sp>
        <p:nvSpPr>
          <p:cNvPr id="30" name="Text 19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attack categories, captured in real enterprise Wi-Fi traffic (AWID3) — alongside normal operation.</a:t>
            </a:r>
            <a:endParaRPr lang="en-US" sz="1300" dirty="0"/>
          </a:p>
        </p:txBody>
      </p:sp>
      <p:sp>
        <p:nvSpPr>
          <p:cNvPr id="31" name="Text 2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Rounded Rectangle 31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es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csit_logo_transparen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Independent Packets to Sequence Models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5F7FB"/>
          </a:solidFill>
          <a:ln w="12700">
            <a:solidFill>
              <a:srgbClr val="DADFE8"/>
            </a:solidFill>
            <a:prstDash val="solid"/>
          </a:ln>
        </p:spPr>
      </p:sp>
      <p:pic>
        <p:nvPicPr>
          <p:cNvPr id="4" name="Image 0" descr="/home/claude/pptx2/icon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584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Random Forests classify each packet independently. Fast, interpretable — but no notion of context across packets.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14630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pic>
        <p:nvPicPr>
          <p:cNvPr id="8" name="Image 1" descr="/home/claude/pptx2/icon_brai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58368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networks and Transformers assumed to capture patterns emerging across a sequence of packets, via attention.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371600" y="4023360"/>
            <a:ext cx="9418320" cy="1920240"/>
          </a:xfrm>
          <a:prstGeom prst="roundRect">
            <a:avLst>
              <a:gd name="adj" fmla="val 3810"/>
            </a:avLst>
          </a:prstGeom>
          <a:solidFill>
            <a:srgbClr val="FFF4E5"/>
          </a:solidFill>
          <a:ln w="19050">
            <a:solidFill>
              <a:srgbClr val="F96167"/>
            </a:solidFill>
            <a:prstDash val="solid"/>
          </a:ln>
        </p:spPr>
      </p:sp>
      <p:pic>
        <p:nvPicPr>
          <p:cNvPr id="12" name="Image 2" descr="/home/claude/pptx2/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34340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68880" y="420624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premise is widely adopted — but rarely tested in isolation.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 are usually given more context than classical baselines in the same comparison. Is the advantage architecture, or just more information?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Rounded Rectangle 14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csit_logo_transpar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Confound Hiding in Plain 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published comparisons…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5A6478"/>
            </a:solidFill>
            <a:prstDash val="solid"/>
          </a:ln>
        </p:spPr>
      </p:sp>
      <p:pic>
        <p:nvPicPr>
          <p:cNvPr id="5" name="Image 0" descr="/home/claude/pptx2/icon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Baselines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584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ONE packet at a time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1546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features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6583680" y="187452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1" descr="/home/claude/pptx2/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031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76656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 10-packet WINDOW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766560" y="31546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features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5577840" y="2743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22960" y="4526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performance gap could come from </a:t>
            </a:r>
            <a:pPr algn="ctr" indent="0" marL="0">
              <a:buNone/>
            </a:pPr>
            <a:r>
              <a:rPr lang="en-US" sz="1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more information</a:t>
            </a:r>
            <a:pPr algn="ctr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smarter architecture.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822960" y="5212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confound our ablations were designed to isolate.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Rounded Rectangle 17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csit_logo_transpar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— Where This Fits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IDS survey literature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Hamroun et al. survey 5G/Wi-Fi intrusion detection and note that performance depends as much on data representation as classifier complexity [1].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AWID3 benchmark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Chatzoglou et al. introduced AWID3 — real enterprise Wi-Fi captures across 13 attack categories, now a standard benchmark [2].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IDS approaches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intrusion prevention [3], neural nets vs. rule-based systems [9], ensemble botnet detection [5], CNN de-authentication detection [8].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1417320"/>
            <a:ext cx="4663440" cy="4572000"/>
          </a:xfrm>
          <a:prstGeom prst="roundRect">
            <a:avLst>
              <a:gd name="adj" fmla="val 1600"/>
            </a:avLst>
          </a:prstGeom>
          <a:solidFill>
            <a:srgbClr val="FFF4E5"/>
          </a:solidFill>
          <a:ln w="19050">
            <a:solidFill>
              <a:srgbClr val="F96167"/>
            </a:solidFill>
            <a:prstDash val="solid"/>
          </a:ln>
        </p:spPr>
      </p:sp>
      <p:pic>
        <p:nvPicPr>
          <p:cNvPr id="5" name="Image 0" descr="/home/claude/pptx2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6916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0" y="219456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recurring gaps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Classical baselines get single packets while sequence models get windows — confounding architecture with input quantity.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Train/test noise is often identical — measuring memorization, not robustness.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is consistent with the broader tabular-ML literature: tree ensembles are often competitive with or superior to deep architectures on structured data [14, 15].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Rounded Rectangle 7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csit_logo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Raw AWID3 Captures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enterprise Wi-Fi traffic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simulated — genuine captured 802.11 traffic across normal operation and attacks.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interspersed in background traffic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rows are NOT at the start of files — our loader scans specifically for them rather than assuming uniform distribution.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pre-balancing shortcuts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pre-shrunk 9,000-row derivative, we build directly from the raw, full-scale captures.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1463040"/>
            <a:ext cx="457200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18288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0" y="2395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categories + Normal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2880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254 → 18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34472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features, reduced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3931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12,377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44988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windows built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4983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8,663 / 1,857 / 1,857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55504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Rounded Rectangle 13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csit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Selection: A Documented, 3-Stage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3796" y="17373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" y="1874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5236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protocol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5236" y="31546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frame, radiotap, 802.11,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ARP, TCP/UDP, DNS, HTTP…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19756" y="1737360"/>
            <a:ext cx="2560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75788" y="17373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875788" y="1874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67228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Numeric-coercible,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excluded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67228" y="31546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addrs, hardware clocks,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channel/freq removed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1748" y="1737360"/>
            <a:ext cx="2560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7780" y="17373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97780" y="1874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8922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missingness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variance filter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89220" y="31546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near-constant,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mostly-empty columns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63740" y="1737360"/>
            <a:ext cx="2560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9772" y="17373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9772" y="1874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11212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correlation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(&gt;0.95)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11212" y="31546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higher-importance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of each pair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285732" y="1737360"/>
            <a:ext cx="2560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41764" y="17373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9541764" y="1874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33204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(~95% importance)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33204" y="31546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via XGBoost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gain-based importance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feature: </a:t>
            </a:r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opcode ≈ 43% of total importance</a:t>
            </a:r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plausible given ARP manipulation's role in Evil Twin / Rogue AP attacks, but flagged as a possible protocol-identification shortcut (see Limitations).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csit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Session-Aware, Non-Overlapping Windowing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(MAC: aa:bb:cc…)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19659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5104" y="19659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19659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7248" y="19659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19659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19659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55464" y="19659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31536" y="19659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07608" y="19659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1874520"/>
            <a:ext cx="5870448" cy="685800"/>
          </a:xfrm>
          <a:prstGeom prst="roundRect">
            <a:avLst/>
          </a:prstGeom>
          <a:ln w="25400">
            <a:solidFill>
              <a:srgbClr val="F96167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72084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 window (10 consecutive packets, same session)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(MAC: dd:ee:ff…)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32461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5F7FB"/>
          </a:solidFill>
          <a:ln w="9525">
            <a:solidFill>
              <a:srgbClr val="5A64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99032" y="32461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5F7FB"/>
          </a:solidFill>
          <a:ln w="9525">
            <a:solidFill>
              <a:srgbClr val="5A64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75104" y="32461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5F7FB"/>
          </a:solidFill>
          <a:ln w="9525">
            <a:solidFill>
              <a:srgbClr val="5A64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1176" y="32461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5F7FB"/>
          </a:solidFill>
          <a:ln w="9525">
            <a:solidFill>
              <a:srgbClr val="5A64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27248" y="32461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5F7FB"/>
          </a:solidFill>
          <a:ln w="9525">
            <a:solidFill>
              <a:srgbClr val="5A64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32461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5F7FB"/>
          </a:solidFill>
          <a:ln w="9525">
            <a:solidFill>
              <a:srgbClr val="5A64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32461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5F7FB"/>
          </a:solidFill>
          <a:ln w="9525">
            <a:solidFill>
              <a:srgbClr val="5A64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Fewer than 10 packets — no window built from this remainder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20624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source MAC address (session)</a:t>
            </a:r>
            <a:endParaRPr lang="en-US" sz="1500" dirty="0"/>
          </a:p>
          <a:p>
            <a:pPr marL="342900" indent="-342900">
              <a:buSzPct val="100000"/>
              <a:buChar char="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relative capture time within session</a:t>
            </a:r>
            <a:endParaRPr lang="en-US" sz="1500" dirty="0"/>
          </a:p>
          <a:p>
            <a:pPr marL="342900" indent="-342900">
              <a:buSzPct val="100000"/>
              <a:buChar char="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— no packet appears in two windows (prevents train/test leakage)</a:t>
            </a:r>
            <a:endParaRPr lang="en-US" sz="1500" dirty="0"/>
          </a:p>
          <a:p>
            <a:pPr marL="342900" indent="-342900">
              <a:buSzPct val="100000"/>
              <a:buChar char="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label assigned by majority vote across its 10 packets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Rounded Rectangle 26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csit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Protocol: Train ≠ Test, By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mistake: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on noise drawn from the same distribution used for training augmentation measures memorization, not robustness.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292608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03320" y="2286000"/>
            <a:ext cx="384048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2286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Train-Time Augmentation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43800" y="2286000"/>
            <a:ext cx="384048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286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Evaluation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880360"/>
            <a:ext cx="2926080" cy="594360"/>
          </a:xfrm>
          <a:prstGeom prst="rect">
            <a:avLst/>
          </a:prstGeom>
          <a:solidFill>
            <a:srgbClr val="F5F7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80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level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03320" y="2880360"/>
            <a:ext cx="3840480" cy="594360"/>
          </a:xfrm>
          <a:prstGeom prst="rect">
            <a:avLst/>
          </a:prstGeom>
          <a:solidFill>
            <a:srgbClr val="F5F7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880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43800" y="2880360"/>
            <a:ext cx="3840480" cy="594360"/>
          </a:xfrm>
          <a:prstGeom prst="rect">
            <a:avLst/>
          </a:prstGeom>
          <a:solidFill>
            <a:srgbClr val="FFF4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880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2926080" cy="594360"/>
          </a:xfrm>
          <a:prstGeom prst="rect">
            <a:avLst/>
          </a:prstGeom>
          <a:solidFill>
            <a:srgbClr val="F5F7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74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rate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03320" y="3474720"/>
            <a:ext cx="3840480" cy="594360"/>
          </a:xfrm>
          <a:prstGeom prst="rect">
            <a:avLst/>
          </a:prstGeom>
          <a:solidFill>
            <a:srgbClr val="F5F7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3474720"/>
            <a:ext cx="3840480" cy="594360"/>
          </a:xfrm>
          <a:prstGeom prst="rect">
            <a:avLst/>
          </a:prstGeom>
          <a:solidFill>
            <a:srgbClr val="FFF4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069080"/>
            <a:ext cx="2926080" cy="594360"/>
          </a:xfrm>
          <a:prstGeom prst="rect">
            <a:avLst/>
          </a:prstGeom>
          <a:solidFill>
            <a:srgbClr val="F5F7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069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Sign-flip corruption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703320" y="4069080"/>
            <a:ext cx="3840480" cy="594360"/>
          </a:xfrm>
          <a:prstGeom prst="rect">
            <a:avLst/>
          </a:prstGeom>
          <a:solidFill>
            <a:srgbClr val="F5F7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4069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43800" y="4069080"/>
            <a:ext cx="3840480" cy="594360"/>
          </a:xfrm>
          <a:prstGeom prst="rect">
            <a:avLst/>
          </a:prstGeom>
          <a:solidFill>
            <a:srgbClr val="FFF4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4069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 — never seen in training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7240" y="4663440"/>
            <a:ext cx="2926080" cy="594360"/>
          </a:xfrm>
          <a:prstGeom prst="rect">
            <a:avLst/>
          </a:prstGeom>
          <a:solidFill>
            <a:srgbClr val="F5F7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663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703320" y="4663440"/>
            <a:ext cx="3840480" cy="594360"/>
          </a:xfrm>
          <a:prstGeom prst="rect">
            <a:avLst/>
          </a:prstGeom>
          <a:solidFill>
            <a:srgbClr val="F5F7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4663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On-the-fly, regenerated per batch/epoch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543800" y="4663440"/>
            <a:ext cx="3840480" cy="594360"/>
          </a:xfrm>
          <a:prstGeom prst="rect">
            <a:avLst/>
          </a:prstGeom>
          <a:solidFill>
            <a:srgbClr val="FFF4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4663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to held-out test split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Rounded Rectangle 34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csit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Architecture + BBOT (Optuna) Tuning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50876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468880" y="150876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33472" y="150876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633472" y="15087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Positional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33672" y="150876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8264" y="150876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398264" y="15087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98464" y="150876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3056" y="150876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163056" y="15087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LayerNorm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63256" y="150876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27848" y="150876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927848" y="15087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28048" y="150876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92640" y="150876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0" y="15087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25146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for 3 encoder layers (Optuna-selected)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063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BBOT: Optuna Tree-structured Parzen Estimator (TPE)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Bayesian search — each new trial's hyperparameters are informed by the outcomes of previous trials, unlike undirected random search.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4023360"/>
            <a:ext cx="320040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40233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4023360"/>
            <a:ext cx="329184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40233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63840" y="4023360"/>
            <a:ext cx="329184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0" y="40233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371600" y="4370832"/>
            <a:ext cx="3200400" cy="347472"/>
          </a:xfrm>
          <a:prstGeom prst="rect">
            <a:avLst/>
          </a:prstGeom>
          <a:solidFill>
            <a:srgbClr val="F5F7FB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43708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layers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4370832"/>
            <a:ext cx="3291840" cy="347472"/>
          </a:xfrm>
          <a:prstGeom prst="rect">
            <a:avLst/>
          </a:prstGeom>
          <a:solidFill>
            <a:srgbClr val="F5F7FB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3708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63840" y="4370832"/>
            <a:ext cx="3291840" cy="347472"/>
          </a:xfrm>
          <a:prstGeom prst="rect">
            <a:avLst/>
          </a:prstGeom>
          <a:solidFill>
            <a:srgbClr val="F5F7FB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43708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371600" y="4718304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63040" y="47183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heads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4718304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471830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{2, 4, 8}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63840" y="4718304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471830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371600" y="5065776"/>
            <a:ext cx="3200400" cy="347472"/>
          </a:xfrm>
          <a:prstGeom prst="rect">
            <a:avLst/>
          </a:prstGeom>
          <a:solidFill>
            <a:srgbClr val="F5F7FB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63040" y="50657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dimension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5065776"/>
            <a:ext cx="3291840" cy="347472"/>
          </a:xfrm>
          <a:prstGeom prst="rect">
            <a:avLst/>
          </a:prstGeom>
          <a:solidFill>
            <a:srgbClr val="F5F7FB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506577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{32, 64, 128}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863840" y="5065776"/>
            <a:ext cx="3291840" cy="347472"/>
          </a:xfrm>
          <a:prstGeom prst="rect">
            <a:avLst/>
          </a:prstGeom>
          <a:solidFill>
            <a:srgbClr val="F5F7FB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506577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371600" y="5413248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63040" y="54132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dim.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0" y="5413248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54132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{64, 128, 256}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863840" y="5413248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54132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371600" y="5760720"/>
            <a:ext cx="3200400" cy="347472"/>
          </a:xfrm>
          <a:prstGeom prst="rect">
            <a:avLst/>
          </a:prstGeom>
          <a:solidFill>
            <a:srgbClr val="F5F7FB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63040" y="57607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0" y="5760720"/>
            <a:ext cx="3291840" cy="347472"/>
          </a:xfrm>
          <a:prstGeom prst="rect">
            <a:avLst/>
          </a:prstGeom>
          <a:solidFill>
            <a:srgbClr val="F5F7FB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57607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0.4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863840" y="5760720"/>
            <a:ext cx="3291840" cy="347472"/>
          </a:xfrm>
          <a:prstGeom prst="rect">
            <a:avLst/>
          </a:prstGeom>
          <a:solidFill>
            <a:srgbClr val="F5F7FB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55280" y="57607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0.018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371600" y="6108192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63040" y="61081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0" y="6108192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61081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 – 5e-3 (log)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863840" y="6108192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55280" y="61081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3.57e-4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6" name="Rounded Rectangle 65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ccsit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Context Conditions, Evaluated Fairly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5F7FB"/>
          </a:solidFill>
          <a:ln w="12700">
            <a:solidFill>
              <a:srgbClr val="DADFE8"/>
            </a:solidFill>
            <a:prstDash val="solid"/>
          </a:ln>
        </p:spPr>
      </p:sp>
      <p:pic>
        <p:nvPicPr>
          <p:cNvPr id="4" name="Image 0" descr="/home/claude/pptx2/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920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1874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Single-Packet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4300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one packet at a time — matches real-time deployment. Models buffer nothing before deciding.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360" y="160020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pic>
        <p:nvPicPr>
          <p:cNvPr id="8" name="Image 1" descr="/home/claude/pptx2/icon_lay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202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1874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Context-Equalized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(Ablation)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62940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gets the SAME 10-packet window as the Transformer. Trees see it flattened (180-dim); CNN/LSTM see it as a real sequence.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accuracy, weighted precision/recall/F1, full per-class confusion matrices — not just aggregate accuracy.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3" name="Rounded Rectangle 12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csit_logo_transpar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1: Context Looks Like It Wins</a:t>
            </a:r>
            <a:endParaRPr lang="en-US" sz="2800" dirty="0"/>
          </a:p>
        </p:txBody>
      </p:sp>
      <p:pic>
        <p:nvPicPr>
          <p:cNvPr id="3" name="Image 0" descr="/home/claude/pptx2/fig1_primar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1188720"/>
            <a:ext cx="7680960" cy="426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Clean: </a:t>
            </a:r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≥99%, no meaningful separation.  </a:t>
            </a:r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Noisy: </a:t>
            </a:r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single-packet baselines collapse to 68–79%; </a:t>
            </a:r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Transformer holds at 94.9%.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csit_logo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2: Give Everyone the Same Context…</a:t>
            </a:r>
            <a:endParaRPr lang="en-US" sz="2800" dirty="0"/>
          </a:p>
        </p:txBody>
      </p:sp>
      <p:pic>
        <p:nvPicPr>
          <p:cNvPr id="3" name="Image 0" descr="/home/claude/pptx2/fig2_context_equalized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1188720"/>
            <a:ext cx="7680960" cy="426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reaches 97.7%. </a:t>
            </a:r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Transformer's advantage disappears entirely — it's now mid-pack.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csit_logo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3: Does Packet Order Even Matter?</a:t>
            </a:r>
            <a:endParaRPr lang="en-US" sz="2800" dirty="0"/>
          </a:p>
        </p:txBody>
      </p:sp>
      <p:pic>
        <p:nvPicPr>
          <p:cNvPr id="3" name="Image 0" descr="/home/claude/pptx2/fig5_shuffle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6766560" cy="4229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80960" y="1737360"/>
            <a:ext cx="3931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randomly shuffled packet order within each window.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barely moves (−0.47 pts).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Transformer: gets 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(+1.76 pts) with order destroyed.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Diagnostic: packets within a window are ~17× more similar to each other than windows are to one another.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built to learn sequence… doesn't need it.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csit_logo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4: So Where Does Robustness Come From?</a:t>
            </a:r>
            <a:endParaRPr lang="en-US" sz="2800" dirty="0"/>
          </a:p>
        </p:txBody>
      </p:sp>
      <p:pic>
        <p:nvPicPr>
          <p:cNvPr id="3" name="Image 0" descr="/home/claude/pptx2/fig6_aggregation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766560" cy="46520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89520" y="1737360"/>
            <a:ext cx="4023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 pts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averaging alone — same 18 features, just aggregated over the window.</a:t>
            </a:r>
            <a:endParaRPr lang="en-US" sz="2400" dirty="0"/>
          </a:p>
          <a:p>
            <a:pPr indent="0" marL="0">
              <a:buNone/>
            </a:pPr>
            <a:r>
              <a:rPr lang="en-US" sz="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pts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retaining individual packets — order-independent, per the shuffle test.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csit_logo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Confirming the Mechanism: Window-Size Sweep</a:t>
            </a:r>
            <a:endParaRPr lang="en-US" sz="2800" dirty="0"/>
          </a:p>
        </p:txBody>
      </p:sp>
      <p:pic>
        <p:nvPicPr>
          <p:cNvPr id="3" name="Image 0" descr="/home/claude/pptx2/fig7_window_size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6949440" cy="4343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863840" y="1828800"/>
            <a:ext cx="3749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count held constant at 18 — only the number of averaged packets varies.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W=1: 79.3%   W=2: 84.6%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W=5: 91.5%   W=10: 92.8%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decelerating curve — exactly what 1/√W noise reduction predicts. Independent confirmation of the averaging mechanism.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csit_logo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Result Stable? Multi-Seed &amp; Multi-Split</a:t>
            </a:r>
            <a:endParaRPr lang="en-US" sz="2800" dirty="0"/>
          </a:p>
        </p:txBody>
      </p:sp>
      <p:pic>
        <p:nvPicPr>
          <p:cNvPr id="3" name="Image 0" descr="/home/claude/pptx2/fig8_variance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71600"/>
            <a:ext cx="9601200" cy="400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on all 3 independent data splits</a:t>
            </a:r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gap of 3.50 pts is ~2.4× the combined across-split standard deviation. This is a stable result, not a lucky draw.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csit_logo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Thing: Where Errors Actually Land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model, Normal traffic shows a distinctive noise-failure mode: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falls sharply while recall rises — meaning attack traffic increasingly gets misclassified AS Normal, not the reverse.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operationally costly direction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intrusion detector: undetected attacks, not false alarms.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worse for the Transformer than for Random Forest — consistent with the accuracy gap already shown.</a:t>
            </a:r>
            <a:endParaRPr lang="en-US" sz="1500" dirty="0"/>
          </a:p>
        </p:txBody>
      </p:sp>
      <p:pic>
        <p:nvPicPr>
          <p:cNvPr id="4" name="Image 0" descr="/home/claude/pptx2/fig4_confusion_RandomForest_Flattened_noi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063240"/>
            <a:ext cx="4206240" cy="36053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88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(context-equalized)</a:t>
            </a:r>
            <a:endParaRPr lang="en-US" sz="1200" dirty="0"/>
          </a:p>
        </p:txBody>
      </p:sp>
      <p:pic>
        <p:nvPicPr>
          <p:cNvPr id="6" name="Image 1" descr="/home/claude/pptx2/fig4_confusion_Transformer_Tuned_nois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063240"/>
            <a:ext cx="4206240" cy="36053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5120" y="2788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(BBOT-tuned)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csit_logo_transpar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2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Takeaway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matters more than architecture.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22402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with equal context beats a tuned Transformer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accurate, more stable across seeds and splits, and far cheaper to train (seconds vs. minutes + a 30-trial hyperparameter search).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35204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6205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97.63%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noisy-test accuracy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35204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6205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94.13%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48056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Transformer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noisy-test accuracy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35204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6205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~2.4×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04672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vs. split std dev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stable result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6" name="Rounded Rectangle 15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csit_logo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— Stated Plainly</a:t>
            </a:r>
            <a:endParaRPr lang="en-US" sz="2800" dirty="0"/>
          </a:p>
        </p:txBody>
      </p:sp>
      <p:pic>
        <p:nvPicPr>
          <p:cNvPr id="3" name="Image 0" descr="/home/claude/pptx2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554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noise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206240" y="155448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calibrated to measured wireless interference; sign-flip corruption has no direct physical analogue. Results describe robustness to synthetic feature-space perturbation.</a:t>
            </a:r>
            <a:endParaRPr lang="en-US" sz="1350" dirty="0"/>
          </a:p>
        </p:txBody>
      </p:sp>
      <p:pic>
        <p:nvPicPr>
          <p:cNvPr id="6" name="Image 1" descr="/home/claude/pptx2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743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protocol shortcut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206240" y="274320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opcode carries ~43% of feature importance. Models may partly identify protocol type rather than pure attack behavior.</a:t>
            </a:r>
            <a:endParaRPr lang="en-US" sz="1350" dirty="0"/>
          </a:p>
        </p:txBody>
      </p:sp>
      <p:pic>
        <p:nvPicPr>
          <p:cNvPr id="9" name="Image 2" descr="/home/claude/pptx2/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3931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finding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4206240" y="393192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redundant, consecutive packet windows in AWID3 — not a blanket claim against sequence models in every setting.</a:t>
            </a:r>
            <a:endParaRPr lang="en-US" sz="1350" dirty="0"/>
          </a:p>
        </p:txBody>
      </p:sp>
      <p:pic>
        <p:nvPicPr>
          <p:cNvPr id="12" name="Image 3" descr="/home/claude/pptx2/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66360"/>
            <a:ext cx="411480" cy="411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51206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 classes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206240" y="512064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AP (~20 test windows) and SQL Injection have limited raw attack traffic in AWID3; per-class metrics for these carry wider uncertainty.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6" name="Rounded Rectangle 15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e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csit_logo_transpar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protocol-shortcut concern — remove ARP opcode and similar features, re-measure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noise model against measured real-world wireless interference traces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461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longer or flow-level windows (more heterogeneous packets) change the ordering result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0690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Normal-class false-negative pattern via class-weighted objectives or a dedicated anomaly stage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8006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inference latency and memory footprint — deployment guidance for edge / access-point hardware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9" name="Rounded Rectangle 18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csit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T 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thotapranav24@gmail.com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Rajasekar Mohan (Corresponding Author)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rajasekarmohan@pes.edu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ID: ZX1060  —  ICCSIT 2026, Paris  —  ACM Int'l Conference Proceedings Series</a:t>
            </a:r>
            <a:endParaRPr lang="en-US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228600" y="109728"/>
            <a:ext cx="859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164592"/>
            <a:ext cx="750093" cy="3840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1472579" y="109728"/>
            <a:ext cx="490821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csit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443" y="164592"/>
            <a:ext cx="381093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2026-09-21T12:03:19Z</dcterms:created>
  <dcterms:modified xsi:type="dcterms:W3CDTF">2026-09-21T12:03:19Z</dcterms:modified>
</cp:coreProperties>
</file>